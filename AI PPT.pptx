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Calibri"/>
              </a:defRPr>
            </a:pPr>
            <a:r>
              <a:t>RAJALAKSHMI ENGINEERING COLLEGE (AUTONOMOUS) | DEPARTMENT OF CSE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FOUNDATIONS OF ARTIFICIAL INTELLIGENCE  •  PROJECT REVIEW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TEAMFORGE: Intelligent Student Team Formation Platform</a:t>
            </a:r>
          </a:p>
          <a:p>
            <a:pPr>
              <a:spcBef>
                <a:spcPts val="600"/>
              </a:spcBef>
              <a:defRPr sz="2200">
                <a:solidFill>
                  <a:srgbClr val="E0E7FF"/>
                </a:solidFill>
                <a:latin typeface="Georgia"/>
              </a:defRPr>
            </a:pPr>
            <a:r>
              <a:t>Using Constraint Satisfaction and Heuristic Local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03628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Calibri"/>
              </a:defRPr>
            </a:pPr>
            <a:r>
              <a:t>PROJECT CANDIDATES: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• TARUN ANTONY M (Reg No: 2116240701556)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• THANIKAIVEL S   (Reg No: 2116240701562)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Degree: B.E. Computer Science and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4876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Calibri"/>
              </a:defRPr>
            </a:pPr>
            <a:r>
              <a:t>PROJECT SUPERVISOR &amp; INSTITUTION: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Mrs. B. Deepa, M.E., (Ph.D.)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Assistant Professor (Selection Grade), Dept. of CSE</a:t>
            </a:r>
            <a:br/>
            <a:r>
              <a:t>Rajalakshmi Engineering College, Thandalam, Chennai</a:t>
            </a:r>
            <a:br/>
            <a:r>
              <a:t>Academic Year: 2026–2027  |  Review Date: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PROJECT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1. Background &amp; Motivation: Why TeamForge?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2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High-Stakes Events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Collegiate Hackathons (Smart India Hackathon, internal college hackathons) require multi-disciplinary skills within 24-36 hrs.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Final Year Capstone Projects dictate graduation outcomes and project quality.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Diverse skill sets needed: UI/UX, Backend, Database, AI/ML, Testing.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Poorly structured teams lead to project abandonment or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91C1C"/>
                </a:solidFill>
                <a:latin typeface="Georgia"/>
              </a:defRPr>
            </a:pPr>
            <a:r>
              <a:t>The Breakdown of Ad-Hoc Teams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Social Clique Bias: Friends group together regardless of overlapping or missing technical competencies.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Severe Skill Gaps: Teams with 4 frontend designers and zero database engineers, or vice versa.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Schedule Bottlenecks: Uncoordinated commitments lead to inactive contributors.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Isolated Solitary Talent: Introverted students or juniors with niche skills are systematically excluded.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The Classical AI Solution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Replaces guesswork with mathematically optimal Constraint Satisfaction Problem (CSP).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Pure Classical AI: Zero external black-box models, zero paid AI APIs, zero hallucinations.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100% Deterministic &amp; Explainable audit trail for faculty and student leaders.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Integrated Collaborative Workspace: Kanban board, sessions, and zero-retention ephemeral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2. Problem Statement &amp; Mathematical Formulation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3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The Core Problem Statement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Given a cohort of N registered college students possessing heterogeneous technical skill proficiencies, academic seniority levels, and availability schedules: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Objective: Construct an optimal partition of students into cohesive project teams of target size K.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Hard Feasibility: Every team must satisfy strict capacity limits, pairwise member uniqueness, and collegiate event registration.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Multi-Objective Balance: Must balance technical skill coverage, role specialization, senior-junior pairing, and sprint availability.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Explainability Requirement: System must provide an explainable decision log justifying candidate selection.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The Combinatorial Explosion Challenge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The number of possible team combinations across N candidates for team size K follows the binomial coefficient: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C(N, K) = N! / [ K! * (N - K)! ]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 a typical collegiate cohort (N = 60 students, K = 4 members):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C(60, 4) = 487,635 possible subsets per team!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 K = 6 members: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C(60, 6) = 50,063,860 possible subsets!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Brute-Force Exhaustive Enumeration is NP-hard and computationally prohibitive for interactive web applications.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Requires Classical AI Search Heuristics (MRV + Forward Checking + Hill Climbing) to prune the search space to sub-millisecond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3. Key Objectives &amp; Engineering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4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Objective 1: Classical CSP Modeling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Formalize student team formation as a discrete Constraint Satisfaction Problem (CSP) with explicit Variables, Domains, and Hard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Objective 2: Intelligent Search Space Pruning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Implement Backtracking Search augmented by Minimum Remaining Values (MRV) heuristic and Forward Checking (FC) to eliminate dead branches.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Objective 3: Heuristic Multi-Objective Local Search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Develop a Hill Climbing local search procedure with 1-opt candidate swaps guided by a 5-factor multi-objective scoring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Objective 4: Explainable Multi-Proposal Generator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Generate 3 distinct team proposals (Balanced Alpha, Skill-Dense Beta, Agile Gamma) with transparent step-by-step decision trace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728655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Objective 5: Full-Stack Web Architecture &amp; Privacy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Engineer a high-throughput, decoupled platform (PHP 8.2 + MySQL 8.0) featuring Kanban boards, standups, and zero-storage ephemeral chat.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STATE OF THE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4. Literature Review &amp; 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5 of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3295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Platform / Approach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Matching Paradigm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Constraint Guarantees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AI Explainability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Data Privacy &amp; Chat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Devpost / Hackathon Portals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Manual bulletin board / Self-selection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None (Manual checking)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Zero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External Discord/Slack links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Commercial HR AI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Opaque Deep Learning /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Probabilistic / Weak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Black-box (Unexplainable)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Permanent Cloud Data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Academic CLI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Stand-alone scripts (ILP / GA)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Strict (Math formulations)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 (Mathematical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integrated communication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TeamForge (Proposed)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Hybrid CSP (MRV+FC) + Hill Climbing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100% Deterministic &amp; Hard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Full Step-by-Step Trace Log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4F46E5"/>
                          </a:solidFill>
                          <a:latin typeface="Calibri"/>
                        </a:defRPr>
                      </a:pPr>
                      <a:r>
                        <a:t>Zero-Retention Ephemeral Buffer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Identified Research Gap Addressed by TeamForge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Current academic tools lack end-to-end integration: they produce matching outputs in offline CSV files without project boards, session scheduling, or privacy-first communication.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TeamForge bridges classical AI rigor (CSP + Local Search) directly into a production-grade collegiate web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5. Proposed System Architecture: Decoupled Multi-Tier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6 of 19</a:t>
            </a:r>
          </a:p>
        </p:txBody>
      </p:sp>
      <p:pic>
        <p:nvPicPr>
          <p:cNvPr id="6" name="Picture 5" descr="fig_3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2179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69164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Architectural Highlights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Presentation Layer (Client):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Standards-compliant HTML5, Vanilla CSS3 Design Tokens, Bootstrap 5.3, ES6+ JS.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Communicates strictly via asynchronous JSON fetch APIs.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Application &amp; AI Engine Layer (Server):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Pure PHP 8.2+ backend with zero external AI API costs.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Role-Based Access Control (RBAC): Student, Team Leader, Faculty Admin.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Deterministic CSP Engine + Hill Climbing Optimizer.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3. Data Layer (Dual-Storage Strategy):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Persistent State: MySQL 8.0 normalized 3NF schema.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• Ephemeral State: Rolling in-memory chat buffer with zero persistent database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AI ENGINE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6. Classical AI Formulation: The CSP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7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Variables (X)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Defined as the set of unfilled functional role slots within the target team: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X = { V_1, V_2, ..., V_k }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Where k is the required team size (e.g. k = 4):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V_1: Team Leader / Systems Lead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V_2: Frontend / UI Engineer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V_3: Backend / Database Architect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V_4: Classical AI &amp; Algo Specialist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Domains (D)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 each role variable V_i, the candidate domain D(V_i) is filtered dynamically: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D(V_i) subset of { Candidate Students }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Filtering Criteria: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1. Technical competence matching required role keywords.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2. Valid registration in the target collegiate hackathon.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3. Pinned member designation (locked by leader).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91C1C"/>
                </a:solidFill>
                <a:latin typeface="Georgia"/>
              </a:defRPr>
            </a:pPr>
            <a:r>
              <a:t>Hard Constraints (C)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Must be 100% satisfied for valid assignment: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Team Capacity: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Exactly k members assigned.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Pairwise Uniqueness (AllDiff):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forall i != j, V_i != V_j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(No student occupies 2 slots).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3. Event Enrollment Constraint: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All candidates must be registered.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4. Active Bandwidth Constraint: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Active team commitments &lt; limit.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AI ENGINE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7. Combinatorial Search Optimization: MRV &amp; Forward Checking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8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Georgia"/>
              </a:defRPr>
            </a:pPr>
            <a:r>
              <a:t>Minimum Remaining Values (MRV) Heuristic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Often called the 'Most Constrained Variable' or 'Fail-First' Heuristic.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Algorithmic Mechanism: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At each step in recursive backtracking, inspect all unassigned role variables.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Select variable V_chosen with minimum remaining candidates: |D(V_chosen)|.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Why It Works in Team Formation: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If a team requires a rare skill (e.g. classical graph algorithm specialist with only 2 candidates), assigning it first immediately exposes whether a valid team is possible.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Dramatically shrinks the branching factor at the top of the search tree.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Forward Checking (FC) Constraint Propagation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Algorithmic Mechanism: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When candidate C is tentatively assigned to role V_i: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Immediately prune C from the domains of all other unassigned variables: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 D(V_j) &lt;- D(V_j) \ { C }   forall j != 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Domain Wipeout Early Detection: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If pruning causes any unassigned variable's domain to become empty (|D(V_j)| = 0):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The search initiates an IMMEDIATE backtrack!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Prevents the algorithm from wasting cycles traversing hopeless branches that can never form a complete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HEURISTIC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8. Heuristic Local Search &amp; Multi-Objective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9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Georgia"/>
              </a:defRPr>
            </a:pPr>
            <a:r>
              <a:t>Hill Climbing Local Search (1-Opt Swaps)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Systematic search discovers a feasible team, but local search optimizes its qualitative synergy.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Iterative Procedure: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1. Start with initial feasible team assignment A_0 (from CSP / Greedy baseline).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2. Explore 1-Opt Neighborhood: Systematically evaluate swapping each unpinned team member with an unused candidate in the pool.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3. Retain any neighbor swap that strictly improves fitness: S(A_neighbor) &gt; S(A_current) + delta.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4. Terminate when no 1-opt swap improves score (Local Optimum Plateau achieved).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Maximum iterations capped at 25 (empirically converges in 8-12 iterations).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Multi-Objective Fitness Function S(Team)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Composite evaluation across 5 critical dimensions: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S(Team) = W_skill * SkillCov + W_role * RoleCov +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      W_exp * ExpBal + W_avail * AvailScore +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          W_interest * InterestAlign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Normalized Weights (Sum = 1.0):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W_skill = 0.35 (Mandatory project skill coverage)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W_role  = 0.25 (Specialized role role fulfillment)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W_exp   = 0.15 (Senior-junior pairing &amp; project history)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W_avail = 0.15 (Active weekly commitment &amp; bandwidth)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W_interest = 0.10 (Hackathon track interest alignment)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Produces a 0 to 100% normalized team harmony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ALGORITHMIC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9. Explainable Multi-Proposal Generation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10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Proposal Alpha</a:t>
            </a:r>
            <a:br/>
            <a:r>
              <a:t>(Balanced Optimal)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Holistic Harmony Focus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Algorithm: CSP (MRV+FC) followed by Hill Climbing local search.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Default Weightings: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Skill 35%, Role 25%, Exp 15%, Avail 15%, Interest 10%.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Empirical Score: 94.2%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Advantages: Strong multi-dimensional balance; zero single points of failure.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Ideal For: Standard collegiate hackathons &amp; semester capstone projects.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B91C1C"/>
                </a:solidFill>
                <a:latin typeface="Georgia"/>
              </a:defRPr>
            </a:pPr>
            <a:r>
              <a:t>Proposal Beta</a:t>
            </a:r>
            <a:br/>
            <a:r>
              <a:t>(Skill-Dense Specialists)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Deep Technical Specialization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Algorithm: Re-weighted local search emphasizing hard technical proficiencies.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Weightings: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Skill 55%, Role 20%, Exp 10%, Avail 10%, Interest 5%.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Empirical Score: 89.8%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Advantages: 100% skill coverage across complex frameworks &amp; algorithms.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Ideal For: Advanced AI, blockchain, or competitive coding challenges.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Proposal Gamma</a:t>
            </a:r>
            <a:br/>
            <a:r>
              <a:t>(Agile &amp; High Bandwidth)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Execution Velocity Focus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Algorithm: Greedy assignment prioritizing high available hours &amp; open schedules.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Weightings: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Avail 35%, Skill 25%, Role 20%, Exp 15%, Interest 5%.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Empirical Score: 91.0%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Advantages: 100% member availability score; zero scheduling conflicts.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Ideal For: Rapid 24-hr sprint hackathons where communication speed is critical.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10. Functional System Modules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11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1: Student &amp; Skill Profiling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3NF relational schema storing verified academic data, 1-5 skill proficiency ratings, years of experience, and past verified capstone projects.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2: Collegiate Event Manager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Faculty creation of collegiate hackathons, symposiums, and project expos with timeline controls, min/max team constraints, and eligibility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3 &amp; 4: Classical AI Engine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Native PHP 8.2 implementation of CSP, MRV Heuristic, Forward Checking, Hill Climbing, and transparent decision trace audit 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10896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5: Project Kanban Board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Agile task tracking with drag-and-drop transitions (Not Started, In Progress, Completed), member assignments, category badges, and deadlines.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6: Privacy Ephemeral Chat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Real-time rolling in-memory team chat with ZERO persistent database storage, ensuring strict student privacy and ephemeral communication.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Module 7: Session Scheduler &amp; RBAC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Standup meetings with structured agendas and attendance logs, reinforced by enterprise Role-Based Access Control and CSRF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11. Experimental Setup &amp; Benchmarking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12 of 19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</a:tblGrid>
              <a:tr h="627017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Technical Specification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Operating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Microsoft Windows 11 Enterprise (64-bit)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Web Server &amp; Runtime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Apache 2.4.58 / PHP 8.2.12 (OPcache Enabled)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Database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MySQL 8.0.35 / MariaDB (InnoDB, utf8mb4)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Client-Side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HTML5, Vanilla CSS3 tokens, Bootstrap 5.3, ES6+ 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Processor &amp;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Intel Core i7-12700H @ 2.30 GHz (14 Cores), 16GB DDR5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</a:defRPr>
                      </a:pPr>
                      <a:r>
                        <a:t>Pre-Seeded Test Cohort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60 Students, 15 Master Skills, 4 Active Hackathons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0" y="1645920"/>
            <a:ext cx="4876495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5107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Evaluation Methodology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Benchmark Objective: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Quantify search space reduction, execution latency, and convergence speed compared to standard algorithms.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Key Performance Indicators (KPIs):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1. Search Tree Nodes Explored: Measure of algorithmic pruning efficiency.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2. Execution Latency (ms): Server-side solve time for real-time web responsiveness.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3. Local Search Iterations: Steps required for Hill Climbing convergence.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4. Multi-Objective Fitness Score (%): Quality of resulting student team synergy.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12. Results: Search Tree Pruning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13 of 19</a:t>
            </a:r>
          </a:p>
        </p:txBody>
      </p:sp>
      <p:pic>
        <p:nvPicPr>
          <p:cNvPr id="6" name="Picture 5" descr="fig_5_3_search_pr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8521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554480"/>
            <a:ext cx="4572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9164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Empirical Pruning Analysis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Massive Search Space Compression: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For team size K = 6 in a cohort of 60 students: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Pure Chronological Backtracking explored: 11,800 nodes.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Backtracking + MRV + Forward Checking explored: only 75 nodes!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98.4% Reduction in Search Complexity: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Minimum Remaining Values heuristic selects the most constrained role first, cutting wide branches early.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Forward checking identifies domain wipeouts before searching dead subtrees.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Execution Latency: Sub-45 milliseconds on standard Apache/PHP server, enabling seamless instant recommendations in the web 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13. Results: Local Search Convergence &amp; Proposal Trade-Offs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14 of 19</a:t>
            </a:r>
          </a:p>
        </p:txBody>
      </p:sp>
      <p:pic>
        <p:nvPicPr>
          <p:cNvPr id="6" name="Picture 5" descr="fig_5_1_hill_climbing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120640" cy="3291840"/>
          </a:xfrm>
          <a:prstGeom prst="rect">
            <a:avLst/>
          </a:prstGeom>
        </p:spPr>
      </p:pic>
      <p:pic>
        <p:nvPicPr>
          <p:cNvPr id="7" name="Picture 6" descr="fig_5_2_radar_propos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21208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Summary of Empirical Findings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Convergence Dynamics (Left): Hill Climbing local search elevates the greedy baseline score from 68.4% to 90.2% in 5 iterations, smoothly plateauing at 95.5% by iteration 11.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Multi-Objective Balance (Right): Proposal Alpha achieves 94.2% overall balance, while Proposal Beta provides 100% skill coverage and Proposal Gamma achieves 100% student availability.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14. Privacy-Preserving Architecture &amp; Web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15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F46E5"/>
                </a:solidFill>
                <a:latin typeface="Georgia"/>
              </a:defRPr>
            </a:pPr>
            <a:r>
              <a:t>Zero-Retention Ephemeral Team Chat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Critical Privacy Innovation: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Unlike Slack, MS Teams, or Discord which permanently store messages in cloud databases: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TeamForge chat messages are deliberately NOT stored in MySQL.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Rolling In-Memory Buffer: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Messages reside strictly in an ephemeral rolling server buffer that auto-expires.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Eliminates risks of long-term message surveillance and leaks.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Authorization Wall: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- Access strictly enforced via isUserMemberOf($teamId, $userId). Non-members cannot intercept messages.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Enterprise Web Security Measures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SQL Injection Prevention: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100% of queries use PDO Parameterized Statements with prepared execution.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CSRF Mitigation: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Cryptographic anti-CSRF tokens validated on all state-changing POST endpoints.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3. Session Hardening: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session_regenerate_id(true) executed on login to prevent session fixation.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4. XSS Escaping: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All dynamic inputs escaped using htmlspecialchars(..., ENT_QUOTES, 'UTF-8').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5. Password Security: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Bcrypt one-way cryptographic hashing (password_hash() &amp; password_verify()).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15. Live Platform Demonstration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16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1. Role-Aware Student Dashboard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Personalized greeting, live team formation metrics, active event registrations, skill tags, and quick-access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2. Student Directory &amp; Search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Instant multi-criteria search filtering candidates by department, academic year, specific skill proficiency, and availability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3. Classical AI Generator Console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Interactive solver interface where leaders select required skills, tune objective weights, and inspect live execution trace logs.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10896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4. Alternative Proposal Cards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Visual radar chart breakdown and comparative cards for Proposal Alpha (Balanced), Beta (Specialist), and Gamma (Agile).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5. Project Kanban Task Board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Full sprint management with drag-and-drop transitions across Not Started, In Progress, and Completed columns.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5212080" cy="1325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70916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6. Ephemeral Chat &amp; Standups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Zero-retention real-time messaging channel paired with session scheduling for standups and mentor evaluations.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16. Conclusion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17 of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3A8A"/>
                </a:solidFill>
                <a:latin typeface="Georgia"/>
              </a:defRPr>
            </a:pPr>
            <a:r>
              <a:t>Project Summary &amp; Achievements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Rigorous Classical AI: Proved that complex student team formation can be solved effectively using deterministic CSP and Hill Climbing without black-box ML models.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Computational Superiority: Achieved 98.4% search tree node pruning via MRV and forward checking, executing in sub-45ms.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Practical Student Impact: Replaces nepotism and social clique bias with balanced, high-synergy multidisciplinary project teams.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Production-Ready Platform: Complete full-stack web ecosystem with normalized MySQL schema, Kanban boards, and privacy-first ephemeral messaging.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59669"/>
                </a:solidFill>
                <a:latin typeface="Georgia"/>
              </a:defRPr>
            </a:pPr>
            <a:r>
              <a:t>Future Research &amp; Roadmap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1. Stochastic Metaheuristics: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Integrate Simulated Annealing with geometric cooling to escape local optima in extremely sparse candidate pools.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2. Learning Management System (LMS) Integration: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Connect with Moodle, Canvas, and Blackboard via LTI standards for automated course roster sync.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3. Cognitive Synergy &amp; Belbin Roles: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Incorporate optional personality synergy surveys (Belbin Team Roles) into the multi-objective fitness function.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4. Real-Time WebRTC Media: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   Deploy ephemeral peer-to-peer audio/video standup meetings via WebSockets.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Georgia"/>
              </a:defRPr>
            </a:pPr>
            <a:r>
              <a:t>17. Key Academic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Rajalakshmi Engineering College  |  Dept. of Computer Science &amp; Engineering  |  Project Review 2026  —  Slide 18 of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1E3A8A"/>
                </a:solidFill>
                <a:latin typeface="Georgia"/>
              </a:rPr>
              <a:t>[1] Russell, S. and Norvig, P. (2020): </a:t>
            </a:r>
            <a:r>
              <a:rPr sz="1200">
                <a:solidFill>
                  <a:srgbClr val="1E293B"/>
                </a:solidFill>
                <a:latin typeface="Calibri"/>
              </a:rPr>
              <a:t>Artificial Intelligence: A Modern Approach, 4th Edition, Pearson Education, Hoboken, NJ, pp. 180-213. [Core text for CSP, MRV, and Forward Checking]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E3A8A"/>
                </a:solidFill>
                <a:latin typeface="Georgia"/>
              </a:rPr>
              <a:t>[2] Dechter, R. (2003): </a:t>
            </a:r>
            <a:r>
              <a:rPr sz="1200">
                <a:solidFill>
                  <a:srgbClr val="1E293B"/>
                </a:solidFill>
                <a:latin typeface="Calibri"/>
              </a:rPr>
              <a:t>Constraint Processing, Morgan Kaufmann Publishers, San Francisco, CA, pp. 73-124. [Theoretical foundations of constraint propagation and backtracking]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E3A8A"/>
                </a:solidFill>
                <a:latin typeface="Georgia"/>
              </a:rPr>
              <a:t>[3] Lappas, T., Liu, K. and Terzi, E. (2009): </a:t>
            </a:r>
            <a:r>
              <a:rPr sz="1200">
                <a:solidFill>
                  <a:srgbClr val="1E293B"/>
                </a:solidFill>
                <a:latin typeface="Calibri"/>
              </a:rPr>
              <a:t>'Finding a Team of Experts in Social Networks', Proceedings of the 15th ACM SIGKDD International Conference on Knowledge Discovery and Data Mining (KDD '09), pp. 467-476. [NP-hardness proof of team formation]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E3A8A"/>
                </a:solidFill>
                <a:latin typeface="Georgia"/>
              </a:rPr>
              <a:t>[4] Aarts, E. and Korst, J. (1989): </a:t>
            </a:r>
            <a:r>
              <a:rPr sz="1200">
                <a:solidFill>
                  <a:srgbClr val="1E293B"/>
                </a:solidFill>
                <a:latin typeface="Calibri"/>
              </a:rPr>
              <a:t>Simulated Annealing and Boltzmann Machines: A Stochastic Approach to Combinatorial Optimization, John Wiley &amp; Sons, New York, pp. 45-88. [Local search principles]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E3A8A"/>
                </a:solidFill>
                <a:latin typeface="Georgia"/>
              </a:rPr>
              <a:t>[5] Li, C. T., Shan, M. K. and Lin, S. D. (2015): </a:t>
            </a:r>
            <a:r>
              <a:rPr sz="1200">
                <a:solidFill>
                  <a:srgbClr val="1E293B"/>
                </a:solidFill>
                <a:latin typeface="Calibri"/>
              </a:rPr>
              <a:t>'On Team Formation with Skill Competence and Collaboration History in Social Networks', IEEE TKDE, Vol. 27, No. 8, pp. 2201-2213. [Skill competence balance modeling]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18CF8"/>
                </a:solidFill>
                <a:latin typeface="Georgia"/>
              </a:defRPr>
            </a:pPr>
            <a:r>
              <a:t>Questions &amp; Project Defense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91840"/>
            <a:ext cx="48764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PROJECT TEAM: Tarun Antony M (2116240701556)  •  Thanikaivel S (2116240701562)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34D399"/>
                </a:solidFill>
                <a:latin typeface="Calibri"/>
              </a:defRPr>
            </a:pPr>
            <a:r>
              <a:t>SUPERVISOR: Mrs. B. Deepa, Assistant Professor (SG), Dept. of CSE</a:t>
            </a:r>
          </a:p>
          <a:p>
            <a:pPr algn="ctr"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Rajalakshmi Engineering College (Autonomous), Thandalam, Chennai</a:t>
            </a:r>
            <a:br/>
            <a:r>
              <a:t>Foundations of Artificial Intelligence  | 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